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CO₂ % change</c:v>
                </c:pt>
              </c:strCache>
            </c:strRef>
          </c:tx>
          <c:spPr>
            <a:solidFill>
              <a:srgbClr val="C84B31"/>
            </a:solidFill>
            <a:ln w="38100" cap="flat">
              <a:solidFill>
                <a:srgbClr val="C84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B31"/>
              </a:solidFill>
              <a:ln w="9525" cap="flat">
                <a:solidFill>
                  <a:srgbClr val="C84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2015</c:v>
                  </c:pt>
                  <c:pt idx="6">
                    <c:v>2020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1.5</c:v>
                </c:pt>
                <c:pt idx="2">
                  <c:v>3.4</c:v>
                </c:pt>
                <c:pt idx="3">
                  <c:v>5.3</c:v>
                </c:pt>
                <c:pt idx="4">
                  <c:v>7.2</c:v>
                </c:pt>
                <c:pt idx="5">
                  <c:v>9.6</c:v>
                </c:pt>
                <c:pt idx="6">
                  <c:v>12.1</c:v>
                </c:pt>
                <c:pt idx="7">
                  <c:v>14.2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 change (°C)</c:v>
                </c:pt>
              </c:strCache>
            </c:strRef>
          </c:tx>
          <c:spPr>
            <a:solidFill>
              <a:srgbClr val="E8A33D"/>
            </a:solidFill>
            <a:ln w="38100" cap="flat">
              <a:solidFill>
                <a:srgbClr val="E8A3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2015</c:v>
                  </c:pt>
                  <c:pt idx="6">
                    <c:v>2020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0.27</c:v>
                </c:pt>
                <c:pt idx="1">
                  <c:v>0.4</c:v>
                </c:pt>
                <c:pt idx="2">
                  <c:v>0.42</c:v>
                </c:pt>
                <c:pt idx="3">
                  <c:v>0.65</c:v>
                </c:pt>
                <c:pt idx="4">
                  <c:v>0.72</c:v>
                </c:pt>
                <c:pt idx="5">
                  <c:v>0.9</c:v>
                </c:pt>
                <c:pt idx="6">
                  <c:v>1.02</c:v>
                </c:pt>
                <c:pt idx="7">
                  <c:v>1.17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C84B3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C84B31"/>
                    </a:solidFill>
                    <a:latin typeface="Arial"/>
                  </a:rPr>
                  <a:t>CO₂ cumulative % change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4B3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E8A33D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E8A33D"/>
                    </a:solidFill>
                    <a:latin typeface="Arial"/>
                  </a:rPr>
                  <a:t>Temperature (°C)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A33D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 level</c:v>
                </c:pt>
              </c:strCache>
            </c:strRef>
          </c:tx>
          <c:spPr>
            <a:solidFill>
              <a:srgbClr val="3A7DBD"/>
            </a:solidFill>
            <a:ln w="31750" cap="flat">
              <a:solidFill>
                <a:srgbClr val="3A7D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7DBD"/>
              </a:solidFill>
              <a:ln w="9525" cap="flat">
                <a:solidFill>
                  <a:srgbClr val="3A7D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2015</c:v>
                  </c:pt>
                  <c:pt idx="6">
                    <c:v>2020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8</c:v>
                </c:pt>
                <c:pt idx="2">
                  <c:v>18</c:v>
                </c:pt>
                <c:pt idx="3">
                  <c:v>32</c:v>
                </c:pt>
                <c:pt idx="4">
                  <c:v>48</c:v>
                </c:pt>
                <c:pt idx="5">
                  <c:v>65</c:v>
                </c:pt>
                <c:pt idx="6">
                  <c:v>84</c:v>
                </c:pt>
                <c:pt idx="7">
                  <c:v>102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Forest area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2015</c:v>
                  </c:pt>
                  <c:pt idx="6">
                    <c:v>2020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32.5</c:v>
                </c:pt>
                <c:pt idx="1">
                  <c:v>32.1</c:v>
                </c:pt>
                <c:pt idx="2">
                  <c:v>31.8</c:v>
                </c:pt>
                <c:pt idx="3">
                  <c:v>31.5</c:v>
                </c:pt>
                <c:pt idx="4">
                  <c:v>31.2</c:v>
                </c:pt>
                <c:pt idx="5">
                  <c:v>31</c:v>
                </c:pt>
                <c:pt idx="6">
                  <c:v>30.8</c:v>
                </c:pt>
                <c:pt idx="7">
                  <c:v>30.7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Disasters</c:v>
                </c:pt>
              </c:strCache>
            </c:strRef>
          </c:tx>
          <c:spPr>
            <a:solidFill>
              <a:srgbClr val="C84B31"/>
            </a:solidFill>
            <a:ln w="31750" cap="flat">
              <a:solidFill>
                <a:srgbClr val="C84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B31"/>
              </a:solidFill>
              <a:ln w="9525" cap="flat">
                <a:solidFill>
                  <a:srgbClr val="C84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2015</c:v>
                  </c:pt>
                  <c:pt idx="6">
                    <c:v>2020</c:v>
                  </c:pt>
                  <c:pt idx="7">
                    <c:v>2023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</c:v>
                </c:pt>
                <c:pt idx="1">
                  <c:v>165</c:v>
                </c:pt>
                <c:pt idx="2">
                  <c:v>220</c:v>
                </c:pt>
                <c:pt idx="3">
                  <c:v>285</c:v>
                </c:pt>
                <c:pt idx="4">
                  <c:v>340</c:v>
                </c:pt>
                <c:pt idx="5">
                  <c:v>395</c:v>
                </c:pt>
                <c:pt idx="6">
                  <c:v>410</c:v>
                </c:pt>
                <c:pt idx="7">
                  <c:v>425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CO₂ (Gt)</c:v>
                </c:pt>
              </c:strCache>
            </c:strRef>
          </c:tx>
          <c:spPr>
            <a:solidFill>
              <a:srgbClr val="C84B31"/>
            </a:solidFill>
            <a:ln w="44450" cap="flat">
              <a:solidFill>
                <a:srgbClr val="C84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B31"/>
              </a:solidFill>
              <a:ln w="9525" cap="flat">
                <a:solidFill>
                  <a:srgbClr val="C84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1960</c:v>
                  </c:pt>
                  <c:pt idx="1">
                    <c:v>1970</c:v>
                  </c:pt>
                  <c:pt idx="2">
                    <c:v>1980</c:v>
                  </c:pt>
                  <c:pt idx="3">
                    <c:v>1990</c:v>
                  </c:pt>
                  <c:pt idx="4">
                    <c:v>2000</c:v>
                  </c:pt>
                  <c:pt idx="5">
                    <c:v>2010</c:v>
                  </c:pt>
                  <c:pt idx="6">
                    <c:v>2020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9.5</c:v>
                </c:pt>
                <c:pt idx="1">
                  <c:v>14.9</c:v>
                </c:pt>
                <c:pt idx="2">
                  <c:v>19.5</c:v>
                </c:pt>
                <c:pt idx="3">
                  <c:v>22.7</c:v>
                </c:pt>
                <c:pt idx="4">
                  <c:v>25.5</c:v>
                </c:pt>
                <c:pt idx="5">
                  <c:v>33.1</c:v>
                </c:pt>
                <c:pt idx="6">
                  <c:v>36.4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Causes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4B3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97BC62"/>
              </a:solidFill>
              <a:effectLst/>
            </c:spPr>
          </c:dPt>
          <c:dPt>
            <c:idx val="3"/>
            <c:bubble3D val="0"/>
            <c:spPr>
              <a:solidFill>
                <a:srgbClr val="5C6B5C"/>
              </a:solidFill>
              <a:effectLst/>
            </c:spPr>
          </c:dPt>
          <c:dPt>
            <c:idx val="4"/>
            <c:bubble3D val="0"/>
            <c:spPr>
              <a:solidFill>
                <a:srgbClr val="BCBCB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Fossil fuels</c:v>
                </c:pt>
                <c:pt idx="1">
                  <c:v>Deforestation</c:v>
                </c:pt>
                <c:pt idx="2">
                  <c:v>Agriculture</c:v>
                </c:pt>
                <c:pt idx="3">
                  <c:v>Industry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73</c:v>
                </c:pt>
                <c:pt idx="1">
                  <c:v>11</c:v>
                </c:pt>
                <c:pt idx="2">
                  <c:v>8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 change (°C)</c:v>
                </c:pt>
              </c:strCache>
            </c:strRef>
          </c:tx>
          <c:spPr>
            <a:solidFill>
              <a:srgbClr val="C84B31"/>
            </a:solidFill>
            <a:ln w="25400" cap="flat">
              <a:solidFill>
                <a:srgbClr val="C84B31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C84B31"/>
              </a:solidFill>
              <a:ln w="9525" cap="flat">
                <a:solidFill>
                  <a:srgbClr val="C84B31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9.5</c:v>
                </c:pt>
                <c:pt idx="1">
                  <c:v>12</c:v>
                </c:pt>
                <c:pt idx="2">
                  <c:v>14.9</c:v>
                </c:pt>
                <c:pt idx="3">
                  <c:v>17.5</c:v>
                </c:pt>
                <c:pt idx="4">
                  <c:v>19.5</c:v>
                </c:pt>
                <c:pt idx="5">
                  <c:v>21</c:v>
                </c:pt>
                <c:pt idx="6">
                  <c:v>22.7</c:v>
                </c:pt>
                <c:pt idx="7">
                  <c:v>24</c:v>
                </c:pt>
                <c:pt idx="8">
                  <c:v>25.5</c:v>
                </c:pt>
                <c:pt idx="9">
                  <c:v>28</c:v>
                </c:pt>
                <c:pt idx="10">
                  <c:v>31</c:v>
                </c:pt>
                <c:pt idx="11">
                  <c:v>33.1</c:v>
                </c:pt>
                <c:pt idx="12">
                  <c:v>35.5</c:v>
                </c:pt>
                <c:pt idx="13">
                  <c:v>36.4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0.05</c:v>
                </c:pt>
                <c:pt idx="1">
                  <c:v>0.1</c:v>
                </c:pt>
                <c:pt idx="2">
                  <c:v>0.14</c:v>
                </c:pt>
                <c:pt idx="3">
                  <c:v>0.2</c:v>
                </c:pt>
                <c:pt idx="4">
                  <c:v>0.26</c:v>
                </c:pt>
                <c:pt idx="5">
                  <c:v>0.33</c:v>
                </c:pt>
                <c:pt idx="6">
                  <c:v>0.4</c:v>
                </c:pt>
                <c:pt idx="7">
                  <c:v>0.45</c:v>
                </c:pt>
                <c:pt idx="8">
                  <c:v>0.55</c:v>
                </c:pt>
                <c:pt idx="9">
                  <c:v>0.7</c:v>
                </c:pt>
                <c:pt idx="10">
                  <c:v>0.85</c:v>
                </c:pt>
                <c:pt idx="11">
                  <c:v>0.95</c:v>
                </c:pt>
                <c:pt idx="12">
                  <c:v>1.05</c:v>
                </c:pt>
                <c:pt idx="13">
                  <c:v>1.15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5C"/>
                    </a:solidFill>
                    <a:latin typeface="Arial"/>
                  </a:rPr>
                  <a:t>Annual CO₂ emissions (Gt)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5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5C"/>
                    </a:solidFill>
                    <a:latin typeface="Arial"/>
                  </a:rPr>
                  <a:t>Temperature change (°C)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CO₂ emissions (Gt)</c:v>
                </c:pt>
              </c:strCache>
            </c:strRef>
          </c:tx>
          <c:spPr>
            <a:solidFill>
              <a:srgbClr val="C84B3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China</c:v>
                  </c:pt>
                  <c:pt idx="1">
                    <c:v>United States</c:v>
                  </c:pt>
                  <c:pt idx="2">
                    <c:v>India</c:v>
                  </c:pt>
                  <c:pt idx="3">
                    <c:v>Russia</c:v>
                  </c:pt>
                  <c:pt idx="4">
                    <c:v>Japan</c:v>
                  </c:pt>
                  <c:pt idx="5">
                    <c:v>Germany</c:v>
                  </c:pt>
                  <c:pt idx="6">
                    <c:v>Iran</c:v>
                  </c:pt>
                  <c:pt idx="7">
                    <c:v>South Korea</c:v>
                  </c:pt>
                  <c:pt idx="8">
                    <c:v>Saudi Arabia</c:v>
                  </c:pt>
                  <c:pt idx="9">
                    <c:v>Indonesia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11.5</c:v>
                </c:pt>
                <c:pt idx="1">
                  <c:v>5</c:v>
                </c:pt>
                <c:pt idx="2">
                  <c:v>2.7</c:v>
                </c:pt>
                <c:pt idx="3">
                  <c:v>1.7</c:v>
                </c:pt>
                <c:pt idx="4">
                  <c:v>1.1</c:v>
                </c:pt>
                <c:pt idx="5">
                  <c:v>0.7</c:v>
                </c:pt>
                <c:pt idx="6">
                  <c:v>0.7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2A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Wildfire events (indexed)</c:v>
                </c:pt>
              </c:strCache>
            </c:strRef>
          </c:tx>
          <c:spPr>
            <a:solidFill>
              <a:srgbClr val="C84B31"/>
            </a:solidFill>
            <a:ln w="38100" cap="flat">
              <a:solidFill>
                <a:srgbClr val="C84B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4B31"/>
              </a:solidFill>
              <a:ln w="9525" cap="flat">
                <a:solidFill>
                  <a:srgbClr val="C84B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118</c:v>
                </c:pt>
                <c:pt idx="2">
                  <c:v>142</c:v>
                </c:pt>
                <c:pt idx="3">
                  <c:v>175</c:v>
                </c:pt>
                <c:pt idx="4">
                  <c:v>224</c:v>
                </c:pt>
                <c:pt idx="5">
                  <c:v>268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Floods</c:v>
                </c:pt>
              </c:strCache>
            </c:strRef>
          </c:tx>
          <c:spPr>
            <a:solidFill>
              <a:srgbClr val="3A7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</c:v>
                </c:pt>
                <c:pt idx="1">
                  <c:v>175</c:v>
                </c:pt>
                <c:pt idx="2">
                  <c:v>210</c:v>
                </c:pt>
                <c:pt idx="3">
                  <c:v>245</c:v>
                </c:pt>
                <c:pt idx="4">
                  <c:v>280</c:v>
                </c:pt>
                <c:pt idx="5">
                  <c:v>310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Storms</c:v>
                </c:pt>
              </c:strCache>
            </c:strRef>
          </c:tx>
          <c:spPr>
            <a:solidFill>
              <a:srgbClr val="5C6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110</c:v>
                </c:pt>
                <c:pt idx="2">
                  <c:v>130</c:v>
                </c:pt>
                <c:pt idx="3">
                  <c:v>145</c:v>
                </c:pt>
                <c:pt idx="4">
                  <c:v>165</c:v>
                </c:pt>
                <c:pt idx="5">
                  <c:v>180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Wildfires</c:v>
                </c:pt>
              </c:strCache>
            </c:strRef>
          </c:tx>
          <c:spPr>
            <a:solidFill>
              <a:srgbClr val="C84B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</c:v>
                </c:pt>
                <c:pt idx="1">
                  <c:v>38</c:v>
                </c:pt>
                <c:pt idx="2">
                  <c:v>52</c:v>
                </c:pt>
                <c:pt idx="3">
                  <c:v>75</c:v>
                </c:pt>
                <c:pt idx="4">
                  <c:v>95</c:v>
                </c:pt>
                <c:pt idx="5">
                  <c:v>110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Drought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2000</c:v>
                  </c:pt>
                  <c:pt idx="1">
                    <c:v>2005</c:v>
                  </c:pt>
                  <c:pt idx="2">
                    <c:v>2010</c:v>
                  </c:pt>
                  <c:pt idx="3">
                    <c:v>2015</c:v>
                  </c:pt>
                  <c:pt idx="4">
                    <c:v>2020</c:v>
                  </c:pt>
                  <c:pt idx="5">
                    <c:v>2023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22</c:v>
                </c:pt>
                <c:pt idx="1">
                  <c:v>28</c:v>
                </c:pt>
                <c:pt idx="2">
                  <c:v>35</c:v>
                </c:pt>
                <c:pt idx="3">
                  <c:v>42</c:v>
                </c:pt>
                <c:pt idx="4">
                  <c:v>50</c:v>
                </c:pt>
                <c:pt idx="5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F2A1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greenhous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0"/>
            <a:ext cx="60624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F2A1F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ANALYSIS REPORT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5486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20116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Climate Change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Affects the World</a:t>
            </a:r>
            <a:endParaRPr lang="en-US" sz="4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Live In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49377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really think that the environment is less important than the economy, try holding your breath while you count your money.”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Guy McPherson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Planet Out of Balance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is a real, long-term shift in Earth's weather patterns that we are already witnessing today. Observations from ground, air, and space show clear indicators of change — rising sea levels, warming oceans, and more severe extreme weather. These shifts are primarily driven by human activities, especially the burning of fossil fuels.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554480"/>
            <a:ext cx="2926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0" y="1554480"/>
            <a:ext cx="73152" cy="17830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7220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atmospheric concentration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1554480"/>
            <a:ext cx="2926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098280" y="1554480"/>
            <a:ext cx="73152" cy="178308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+°C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32688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temperature 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566160"/>
            <a:ext cx="2926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3566160"/>
            <a:ext cx="73152" cy="1783080"/>
          </a:xfrm>
          <a:prstGeom prst="rect">
            <a:avLst/>
          </a:prstGeom>
          <a:solidFill>
            <a:srgbClr val="3A7DBD"/>
          </a:solidFill>
          <a:ln w="12700">
            <a:solidFill>
              <a:srgbClr val="3A7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7D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+mm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7220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per year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3566160"/>
            <a:ext cx="29260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3566160"/>
            <a:ext cx="73152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326880" y="4617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global forest cover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indicators tell the story: emissions, temperature, sea level, and forests — each moving in the wrong direction.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Rising CO₂ Levels Are Driving Temperature Increases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CO₂ concentration and global mean temperature change move in lockstep over time.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7498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920240"/>
            <a:ext cx="3474720" cy="4023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58200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curves, one cause.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458200" y="32004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tight correlation between atmospheric CO₂ and global temperature is the clearest fingerprint of human-driven climate change.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0" y="4709160"/>
            <a:ext cx="36576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likelihood that at least one of the next five years will be the warmest on record.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Trends Moving In The Same Direction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0" cy="73152"/>
          </a:xfrm>
          <a:prstGeom prst="rect">
            <a:avLst/>
          </a:prstGeom>
          <a:solidFill>
            <a:srgbClr val="3A7DBD"/>
          </a:solidFill>
          <a:ln w="12700">
            <a:solidFill>
              <a:srgbClr val="3A7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 Levels Rising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sea level continues to climb consistently year after year, driven by thermal expansion and melting ice.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3474720"/>
          <a:ext cx="3291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change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65760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554480"/>
            <a:ext cx="36576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Forests Declining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61772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forest area as a share of total land has fallen steadily — a critical loss of natural carbon sinks.</a:t>
            </a:r>
            <a:endParaRPr lang="en-US" sz="11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526280" y="3474720"/>
          <a:ext cx="3291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461772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land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0" y="1554480"/>
            <a:ext cx="365760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0" y="1554480"/>
            <a:ext cx="365760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039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Disasters Increasing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850392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Climate-related disasters are becoming more frequent, affecting an exceptionally large number of people.</a:t>
            </a:r>
            <a:endParaRPr lang="en-US" sz="1100" dirty="0"/>
          </a:p>
        </p:txBody>
      </p:sp>
      <p:graphicFrame>
        <p:nvGraphicFramePr>
          <p:cNvPr id="20" name="Chart 2" descr=""/>
          <p:cNvGraphicFramePr/>
          <p:nvPr/>
        </p:nvGraphicFramePr>
        <p:xfrm>
          <a:off x="8412480" y="3474720"/>
          <a:ext cx="3291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/>
          <p:nvPr/>
        </p:nvSpPr>
        <p:spPr>
          <a:xfrm>
            <a:off x="850392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events/yr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731520" cy="54864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Emissions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Dynamics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5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fossil fuel emissions are warming the planet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CO₂ Emissions Worsen Each Year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fuels account for 90% of all CO₂ emissions — the central driver of modern climate change.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CO₂ EMISSIONS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33172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CAUSES OF EMISSIONS</a:t>
            </a:r>
            <a:endParaRPr lang="en-US" sz="10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7315200" y="228600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solidFill>
            <a:srgbClr val="F5EF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5897880"/>
            <a:ext cx="73152" cy="4572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fuels alone account for ~90% of CO₂ emissions — the single largest lever for action.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&amp; TEMPERATURE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Higher CO₂, Higher Temperatures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positive relationship between atmospheric emissions and global temperature change.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71323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920240"/>
            <a:ext cx="4023360" cy="4114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GREENHOUSE EFFECT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9244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Action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092440" y="31089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 emissions act like a “blanket” in our atmosphere. They allow sunlight to enter — but prevent heat from escaping back into space, artificially warming the planet.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092440" y="5212080"/>
            <a:ext cx="36576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53492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emissions are the primary driver of rising global temperatures.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&amp; TEMPERATURE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Wealthier Countries Produce Most of the CO₂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responsibility is heavily concentrated — a handful of high-income economies drive the bulk of historic emissions.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920240"/>
            <a:ext cx="3383280" cy="42976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503920" y="1920240"/>
            <a:ext cx="73152" cy="429768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CONTRIBUTION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73252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732520" y="3246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emitters generate the majority of global CO₂ each year.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32520" y="41148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climate impacts fall hardest on developing nations and rural communities that contribute least to the problem.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&amp; TEMPERATURE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Vanishing Natural Defenses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are the planet's most powerful natural carbon sink — but they are shrinking, and increasingly burning.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Earth's land is covered by forest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8745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human carbon emissions absorbed by forests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74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8745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land-based species supported by forests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187452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874520"/>
            <a:ext cx="2743200" cy="7315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1.6B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28116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whose lives depend on forests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5029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73152" cy="274320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CARBON SINK TO CARBON SOURCE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114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forests burn, they release stored carbon — risking a shift from absorber to emitter.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49834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in forest fires have reduced forest area and converted what was once humanity's strongest natural defense into a new source of emissions.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3611880"/>
            <a:ext cx="6126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3749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FIRES OVER TIME</a:t>
            </a:r>
            <a:endParaRPr lang="en-US" sz="10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852160" y="4069080"/>
          <a:ext cx="59436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 Toll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Climate-related disasters have affected an exceptionally large number of people — and the burden is not evenly distributed.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4297680"/>
          </a:xfrm>
          <a:prstGeom prst="rect">
            <a:avLst/>
          </a:prstGeom>
          <a:solidFill>
            <a:srgbClr val="1F2A1F"/>
          </a:solidFill>
          <a:ln w="12700">
            <a:solidFill>
              <a:srgbClr val="1F2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AFFECTED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4.2B+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impacted by climate-related disasters in recent decades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5120640"/>
            <a:ext cx="365760" cy="3657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2578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impact more people worldwide than any other disaster — and flash floods are expected to grow as temperatures rise.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CLIMATE-RELATED DISASTERS BY YEAR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54880" y="2377440"/>
          <a:ext cx="7132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754880" y="5715000"/>
            <a:ext cx="7132320" cy="50292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5715000"/>
            <a:ext cx="73152" cy="502920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5760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hazards are concentrated in developing countries — rural, agriculture-dependent communities are most vulnerable.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IMPACT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 Now — Or Pay Later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action today is roughly one-tenth the cost of inaction tomorrow.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623560" cy="4206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$80B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4846320"/>
            <a:ext cx="36576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9834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mitigation: reducing emissions, restoring forests, building climate resilience.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6576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5C6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565392" y="1920240"/>
            <a:ext cx="5166360" cy="4206240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LATER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560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$800B</a:t>
            </a:r>
            <a:endParaRPr lang="en-US" sz="8400" dirty="0"/>
          </a:p>
        </p:txBody>
      </p:sp>
      <p:sp>
        <p:nvSpPr>
          <p:cNvPr id="15" name="Text 13"/>
          <p:cNvSpPr/>
          <p:nvPr/>
        </p:nvSpPr>
        <p:spPr>
          <a:xfrm>
            <a:off x="6858000" y="4343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0" y="4846320"/>
            <a:ext cx="365760" cy="36576"/>
          </a:xfrm>
          <a:prstGeom prst="rect">
            <a:avLst/>
          </a:prstGeom>
          <a:solidFill>
            <a:srgbClr val="FFE4C4"/>
          </a:solidFill>
          <a:ln w="12700">
            <a:solidFill>
              <a:srgbClr val="FFE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983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inaction: disaster response, displacement, agricultural loss, infrastructure damage.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Forward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5C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to climate stability — three levers, applied together.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3657600" cy="2926080"/>
          </a:xfrm>
          <a:prstGeom prst="rect">
            <a:avLst/>
          </a:prstGeom>
          <a:solidFill>
            <a:srgbClr val="26331F"/>
          </a:solidFill>
          <a:ln w="6350">
            <a:solidFill>
              <a:srgbClr val="3A4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3657600" cy="73152"/>
          </a:xfrm>
          <a:prstGeom prst="rect">
            <a:avLst/>
          </a:prstGeom>
          <a:solidFill>
            <a:srgbClr val="C84B31"/>
          </a:solidFill>
          <a:ln w="12700">
            <a:solidFill>
              <a:srgbClr val="C84B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C84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Emissions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reliance on fossil fuels. They account for ~90% of CO₂ — the largest single lever for slowing warming.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2697480"/>
            <a:ext cx="3657600" cy="2926080"/>
          </a:xfrm>
          <a:prstGeom prst="rect">
            <a:avLst/>
          </a:prstGeom>
          <a:solidFill>
            <a:srgbClr val="26331F"/>
          </a:solidFill>
          <a:ln w="6350">
            <a:solidFill>
              <a:srgbClr val="3A4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2697480"/>
            <a:ext cx="365760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90288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Restore Forests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0288" y="4251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Forests already absorb roughly 30% of human carbon emissions. Protecting and replanting them strengthens our natural defense.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74736" y="2697480"/>
            <a:ext cx="3657600" cy="2926080"/>
          </a:xfrm>
          <a:prstGeom prst="rect">
            <a:avLst/>
          </a:prstGeom>
          <a:solidFill>
            <a:srgbClr val="26331F"/>
          </a:solidFill>
          <a:ln w="6350">
            <a:solidFill>
              <a:srgbClr val="3A4A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2697480"/>
            <a:ext cx="3657600" cy="73152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49056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Resilience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49056" y="4251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most vulnerable communities — especially rural, agriculture-dependent populations in developing regions.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all do our part to reduce emissions and restore forests, we can still reduce the devastating impact of climate-related disasters.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Analysis Report</dc:title>
  <dc:subject>PptxGenJS Presentation</dc:subject>
  <dc:creator>Climate Change Analysis</dc:creator>
  <cp:lastModifiedBy>Climate Change Analysis</cp:lastModifiedBy>
  <cp:revision>1</cp:revision>
  <dcterms:created xsi:type="dcterms:W3CDTF">2026-05-28T06:38:25Z</dcterms:created>
  <dcterms:modified xsi:type="dcterms:W3CDTF">2026-05-28T06:38:25Z</dcterms:modified>
</cp:coreProperties>
</file>